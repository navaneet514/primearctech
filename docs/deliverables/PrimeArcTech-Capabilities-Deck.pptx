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6374931004468e" /><Relationship Type="http://schemas.openxmlformats.org/officeDocument/2006/relationships/extended-properties" Target="/docProps/app.xml" Id="R0afd3be257364f17" /><Relationship Type="http://schemas.openxmlformats.org/officeDocument/2006/relationships/officeDocument" Target="/ppt/presentation.xml" Id="R32092ebdb58545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286da3d059458f"/>
  </p:sldMasterIdLst>
  <p:notesMasterIdLst>
    <p:notesMasterId xmlns:r="http://schemas.openxmlformats.org/officeDocument/2006/relationships" r:id="R6ec8c2f63d054cda"/>
  </p:notesMasterIdLst>
  <p:sldIdLst>
    <p:sldId xmlns:r="http://schemas.openxmlformats.org/officeDocument/2006/relationships" id="256" r:id="R10bf51f827b64a8d"/>
    <p:sldId xmlns:r="http://schemas.openxmlformats.org/officeDocument/2006/relationships" id="257" r:id="R1447259fbdca4cf8"/>
    <p:sldId xmlns:r="http://schemas.openxmlformats.org/officeDocument/2006/relationships" id="258" r:id="R7eb55628144d4e4b"/>
    <p:sldId xmlns:r="http://schemas.openxmlformats.org/officeDocument/2006/relationships" id="259" r:id="Rddd42a9ac8fe4f9e"/>
    <p:sldId xmlns:r="http://schemas.openxmlformats.org/officeDocument/2006/relationships" id="260" r:id="R6604c863a9434a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ed6597e2a4e38" /><Relationship Type="http://schemas.openxmlformats.org/officeDocument/2006/relationships/slideMaster" Target="/ppt/slideMasters/slideMaster1.xml" Id="R9f286da3d059458f" /><Relationship Type="http://schemas.openxmlformats.org/officeDocument/2006/relationships/notesMaster" Target="/ppt/notesMasters/notesMaster1.xml" Id="R6ec8c2f63d054cda" /><Relationship Type="http://schemas.openxmlformats.org/officeDocument/2006/relationships/presProps" Target="/ppt/presProps.xml" Id="R4905bc7dc53648a6" /><Relationship Type="http://schemas.openxmlformats.org/officeDocument/2006/relationships/tableStyles" Target="/ppt/tableStyles.xml" Id="Rba5091d077e74da1" /><Relationship Type="http://schemas.openxmlformats.org/officeDocument/2006/relationships/slide" Target="/ppt/slides/slide1.xml" Id="R10bf51f827b64a8d" /><Relationship Type="http://schemas.openxmlformats.org/officeDocument/2006/relationships/slide" Target="/ppt/slides/slide2.xml" Id="R1447259fbdca4cf8" /><Relationship Type="http://schemas.openxmlformats.org/officeDocument/2006/relationships/slide" Target="/ppt/slides/slide3.xml" Id="R7eb55628144d4e4b" /><Relationship Type="http://schemas.openxmlformats.org/officeDocument/2006/relationships/slide" Target="/ppt/slides/slide4.xml" Id="Rddd42a9ac8fe4f9e" /><Relationship Type="http://schemas.openxmlformats.org/officeDocument/2006/relationships/slide" Target="/ppt/slides/slide5.xml" Id="R6604c863a943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43f06034454a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071b1b9614457" /><Relationship Type="http://schemas.openxmlformats.org/officeDocument/2006/relationships/notesMaster" Target="/ppt/notesMasters/notesMaster1.xml" Id="R950e4058988b4d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357d55fc284dff" /><Relationship Type="http://schemas.openxmlformats.org/officeDocument/2006/relationships/notesMaster" Target="/ppt/notesMasters/notesMaster1.xml" Id="Rbd7726d01e41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c57dfd88442bb" /><Relationship Type="http://schemas.openxmlformats.org/officeDocument/2006/relationships/notesMaster" Target="/ppt/notesMasters/notesMaster1.xml" Id="R03e47d502210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7eb2016274cb4" /><Relationship Type="http://schemas.openxmlformats.org/officeDocument/2006/relationships/notesMaster" Target="/ppt/notesMasters/notesMaster1.xml" Id="R3c53e1d3219443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b2020f878047f9" /><Relationship Type="http://schemas.openxmlformats.org/officeDocument/2006/relationships/notesMaster" Target="/ppt/notesMasters/notesMaster1.xml" Id="R441a0a8310534d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PrimeArcTech positioning and visual asset: public/primearc-studio/01-hero.webp</a:t>
            </a:r>
          </a:p>
          <a:p xmlns:a="http://schemas.openxmlformats.org/drawingml/2006/main">
            <a:r>
              <a:t>- Design pacing reference: https://www.deck.gallery/studio-freight-capabilities-deck-2023/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PrimeArcTech Agency Profile, starting-point and fit-filter copy.</a:t>
            </a:r>
          </a:p>
          <a:p xmlns:a="http://schemas.openxmlformats.org/drawingml/2006/main">
            <a:r>
              <a:t>- Internal visual asset: public/primearc-studio/04-triggers.webp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PrimeArcTech Agency Profile, delivery method and artifact list.</a:t>
            </a:r>
          </a:p>
          <a:p xmlns:a="http://schemas.openxmlformats.org/drawingml/2006/main">
            <a:r>
              <a:t>- Internal visual asset: public/primearc-studio/06-process.webp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PrimeArcTech FieldRelay product route: https://primearc.tech/fieldrelay</a:t>
            </a:r>
          </a:p>
          <a:p xmlns:a="http://schemas.openxmlformats.org/drawingml/2006/main">
            <a:r>
              <a:t>- Live demo route: https://primearc.tech/fieldrelay/demo</a:t>
            </a:r>
          </a:p>
          <a:p xmlns:a="http://schemas.openxmlformats.org/drawingml/2006/main">
            <a:r>
              <a:t>- Internal visual asset: public/fieldrelay/01-hero.webp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PrimeArcTech Agency Profile, free AI Workflow Audit offer and fit-review language.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d63f084cf49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c03a90dc34168" /><Relationship Type="http://schemas.openxmlformats.org/officeDocument/2006/relationships/slideLayout" Target="/ppt/slideLayouts/slideLayout1.xml" Id="R35a1c6c241d9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1c6c241d9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2181d32864b3c" /><Relationship Type="http://schemas.openxmlformats.org/officeDocument/2006/relationships/image" Target="/ppt/media/image.bin" Id="R2fc2b0fef8f849b4" /><Relationship Type="http://schemas.openxmlformats.org/officeDocument/2006/relationships/notesSlide" Target="/ppt/notesSlides/notesSlide1.xml" Id="R46d1d77ee214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05e2278ff4fae" /><Relationship Type="http://schemas.openxmlformats.org/officeDocument/2006/relationships/image" Target="/ppt/media/image2.bin" Id="R555494fc911f4f1f" /><Relationship Type="http://schemas.openxmlformats.org/officeDocument/2006/relationships/notesSlide" Target="/ppt/notesSlides/notesSlide2.xml" Id="R8f1ba1d89df7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d9a40569246db" /><Relationship Type="http://schemas.openxmlformats.org/officeDocument/2006/relationships/image" Target="/ppt/media/image3.bin" Id="R38db9fcf148e4c16" /><Relationship Type="http://schemas.openxmlformats.org/officeDocument/2006/relationships/notesSlide" Target="/ppt/notesSlides/notesSlide3.xml" Id="R4aea58dbd63f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f63048109475d" /><Relationship Type="http://schemas.openxmlformats.org/officeDocument/2006/relationships/image" Target="/ppt/media/image4.bin" Id="R0c717cd03f9c4e1b" /><Relationship Type="http://schemas.openxmlformats.org/officeDocument/2006/relationships/notesSlide" Target="/ppt/notesSlides/notesSlide4.xml" Id="R07f289676c1e45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b5049129e4834" /><Relationship Type="http://schemas.openxmlformats.org/officeDocument/2006/relationships/notesSlide" Target="/ppt/notesSlides/notesSlide5.xml" Id="R8e2389ef230144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2b0fef8f849b4"/>
          <a:srcRect xmlns:a="http://schemas.openxmlformats.org/drawingml/2006/main" l="11898" t="0" r="118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ero-panel">
            <a:extLst xmlns:a="http://schemas.openxmlformats.org/drawingml/2006/main">
              <a:ext uri="{FF2B5EF4-FFF2-40B4-BE49-F238E27FC236}">
                <a16:creationId xmlns:a16="http://schemas.microsoft.com/office/drawing/2014/main" id="{4D81E2C6-9049-41C6-BA08-34CB171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solidFill>
              <a:srgbClr val="111315"/>
            </a:solidFill>
            <a:prstDash val="solid"/>
          </a:ln>
        </p:spPr>
      </p:sp>
      <p:sp>
        <p:nvSpPr>
          <p:cNvPr id="3" name="hero-rule">
            <a:extLst xmlns:a="http://schemas.openxmlformats.org/drawingml/2006/main">
              <a:ext uri="{FF2B5EF4-FFF2-40B4-BE49-F238E27FC236}">
                <a16:creationId xmlns:a16="http://schemas.microsoft.com/office/drawing/2014/main" id="{046DC6C8-DAF5-4CC3-85F2-9BA5C410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3E"/>
          </a:solidFill>
          <a:ln xmlns:a="http://schemas.openxmlformats.org/drawingml/2006/main" w="0">
            <a:solidFill>
              <a:srgbClr val="D8643E"/>
            </a:solidFill>
            <a:prstDash val="solid"/>
          </a:ln>
        </p:spPr>
      </p:sp>
      <p:sp>
        <p:nvSpPr>
          <p:cNvPr id="4" name="brand-1">
            <a:extLst xmlns:a="http://schemas.openxmlformats.org/drawingml/2006/main">
              <a:ext uri="{FF2B5EF4-FFF2-40B4-BE49-F238E27FC236}">
                <a16:creationId xmlns:a16="http://schemas.microsoft.com/office/drawing/2014/main" id="{21B8D77A-23DA-4988-B35C-7AE139B3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rPr>
              <a:t>PRIMEARCTECH  /  APPLIED AI SYSTEMS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31F3720E-6D9F-4C92-B687-B80D2E13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rPr>
              <a:t>CAPABILITIES  /  01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A2F5FA5D-8739-47AB-A9E7-08CB7221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We build AI systems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that complete real work.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92700CBD-76D1-4681-9CF5-5592EE53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7D3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7D3CA"/>
                </a:solidFill>
                <a:latin typeface="Segoe UI"/>
                <a:ea typeface="Segoe UI"/>
                <a:cs typeface="Segoe UI"/>
              </a:rPr>
              <a:t>PrimeArcTech turns costly workflows, credible product ideas, and partner briefs into controlled software.</a:t>
            </a:r>
          </a:p>
        </p:txBody>
      </p:sp>
      <p:sp>
        <p:nvSpPr>
          <p:cNvPr id="8" name="hero-audience">
            <a:extLst xmlns:a="http://schemas.openxmlformats.org/drawingml/2006/main">
              <a:ext uri="{FF2B5EF4-FFF2-40B4-BE49-F238E27FC236}">
                <a16:creationId xmlns:a16="http://schemas.microsoft.com/office/drawing/2014/main" id="{A8C45BE0-65D8-48F2-B7F6-DA5079E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OPERATING TEAMS   /   PRODUCT FOUNDERS   /   AGENCY PARTNERS</a:t>
            </a:r>
          </a:p>
        </p:txBody>
      </p:sp>
      <p:sp>
        <p:nvSpPr>
          <p:cNvPr id="9" name="hero-footer">
            <a:extLst xmlns:a="http://schemas.openxmlformats.org/drawingml/2006/main">
              <a:ext uri="{FF2B5EF4-FFF2-40B4-BE49-F238E27FC236}">
                <a16:creationId xmlns:a16="http://schemas.microsoft.com/office/drawing/2014/main" id="{0425A5A1-C5FE-44F9-877A-8B3A3F4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primearc.tech</a:t>
            </a:r>
          </a:p>
        </p:txBody>
      </p:sp>
    </p:spTree>
    <p:extLst>
      <p:ext uri="{BB962C8B-B14F-4D97-AF65-F5344CB8AC3E}">
        <p14:creationId xmlns:p14="http://schemas.microsoft.com/office/powerpoint/2010/main" val="1979562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2">
            <a:extLst xmlns:a="http://schemas.openxmlformats.org/drawingml/2006/main">
              <a:ext uri="{FF2B5EF4-FFF2-40B4-BE49-F238E27FC236}">
                <a16:creationId xmlns:a16="http://schemas.microsoft.com/office/drawing/2014/main" id="{E9A49D23-4F1D-4BCD-81A4-F219D618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rPr>
              <a:t>PRIMEARCTECH  /  APPLIED AI SYSTEMS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F7F2DF8-5262-4543-9C6C-C406DD06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rPr>
              <a:t>CAPABILITIES  /  02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494fc911f4f1f"/>
          <a:srcRect xmlns:a="http://schemas.openxmlformats.org/drawingml/2006/main" l="29669" t="0" r="29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orange-divider">
            <a:extLst xmlns:a="http://schemas.openxmlformats.org/drawingml/2006/main">
              <a:ext uri="{FF2B5EF4-FFF2-40B4-BE49-F238E27FC236}">
                <a16:creationId xmlns:a16="http://schemas.microsoft.com/office/drawing/2014/main" id="{A232B389-6115-4205-95FE-7AF77CD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3E"/>
          </a:solidFill>
          <a:ln xmlns:a="http://schemas.openxmlformats.org/drawingml/2006/main" w="0">
            <a:solidFill>
              <a:srgbClr val="D8643E"/>
            </a:solidFill>
            <a:prstDash val="solid"/>
          </a:ln>
        </p:spPr>
      </p:sp>
      <p:sp>
        <p:nvSpPr>
          <p:cNvPr id="5" name="start-title">
            <a:extLst xmlns:a="http://schemas.openxmlformats.org/drawingml/2006/main">
              <a:ext uri="{FF2B5EF4-FFF2-40B4-BE49-F238E27FC236}">
                <a16:creationId xmlns:a16="http://schemas.microsoft.com/office/drawing/2014/main" id="{653B90B5-4357-48C5-8099-B36EFB0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405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Start with the work,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405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not the model.</a:t>
            </a:r>
          </a:p>
        </p:txBody>
      </p:sp>
      <p:sp>
        <p:nvSpPr>
          <p:cNvPr id="6" name="start-intro">
            <a:extLst xmlns:a="http://schemas.openxmlformats.org/drawingml/2006/main">
              <a:ext uri="{FF2B5EF4-FFF2-40B4-BE49-F238E27FC236}">
                <a16:creationId xmlns:a16="http://schemas.microsoft.com/office/drawing/2014/main" id="{D948816E-AA7C-4DC0-B909-64852D15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0565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0565B"/>
                </a:solidFill>
                <a:latin typeface="Segoe UI"/>
                <a:ea typeface="Segoe UI"/>
                <a:cs typeface="Segoe UI"/>
              </a:rPr>
              <a:t>One costly pattern. One visible consequence. One owner who knows what good looks like.</a:t>
            </a:r>
          </a:p>
        </p:txBody>
      </p:sp>
      <p:sp>
        <p:nvSpPr>
          <p:cNvPr id="7" name="row-rule-0">
            <a:extLst xmlns:a="http://schemas.openxmlformats.org/drawingml/2006/main">
              <a:ext uri="{FF2B5EF4-FFF2-40B4-BE49-F238E27FC236}">
                <a16:creationId xmlns:a16="http://schemas.microsoft.com/office/drawing/2014/main" id="{66B6FA24-2E0B-4EAD-BD88-5DF4EC0D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8" name="row-index-0">
            <a:extLst xmlns:a="http://schemas.openxmlformats.org/drawingml/2006/main">
              <a:ext uri="{FF2B5EF4-FFF2-40B4-BE49-F238E27FC236}">
                <a16:creationId xmlns:a16="http://schemas.microsoft.com/office/drawing/2014/main" id="{B3FB2E78-C12B-4023-991F-79E02FFA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9" name="row-title-0">
            <a:extLst xmlns:a="http://schemas.openxmlformats.org/drawingml/2006/main">
              <a:ext uri="{FF2B5EF4-FFF2-40B4-BE49-F238E27FC236}">
                <a16:creationId xmlns:a16="http://schemas.microsoft.com/office/drawing/2014/main" id="{37DD5852-F96C-4246-9342-59A3001A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OPERATING BOTTLENECK</a:t>
            </a:r>
          </a:p>
        </p:txBody>
      </p:sp>
      <p:sp>
        <p:nvSpPr>
          <p:cNvPr id="10" name="row-copy-0">
            <a:extLst xmlns:a="http://schemas.openxmlformats.org/drawingml/2006/main">
              <a:ext uri="{FF2B5EF4-FFF2-40B4-BE49-F238E27FC236}">
                <a16:creationId xmlns:a16="http://schemas.microsoft.com/office/drawing/2014/main" id="{0EB21095-C5CC-4CC6-B14A-1C696E8E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65C6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65C61"/>
                </a:solidFill>
                <a:latin typeface="Segoe UI"/>
                <a:ea typeface="Segoe UI"/>
                <a:cs typeface="Segoe UI"/>
              </a:rPr>
              <a:t>Repeated calls, inboxes, documents, routing, approvals, or follow-up consume skilled time and still drop work.</a:t>
            </a:r>
          </a:p>
        </p:txBody>
      </p:sp>
      <p:sp>
        <p:nvSpPr>
          <p:cNvPr id="11" name="row-rule-1">
            <a:extLst xmlns:a="http://schemas.openxmlformats.org/drawingml/2006/main">
              <a:ext uri="{FF2B5EF4-FFF2-40B4-BE49-F238E27FC236}">
                <a16:creationId xmlns:a16="http://schemas.microsoft.com/office/drawing/2014/main" id="{7EE7A334-940D-4C07-A748-14673A63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2" name="row-index-1">
            <a:extLst xmlns:a="http://schemas.openxmlformats.org/drawingml/2006/main">
              <a:ext uri="{FF2B5EF4-FFF2-40B4-BE49-F238E27FC236}">
                <a16:creationId xmlns:a16="http://schemas.microsoft.com/office/drawing/2014/main" id="{B9AD45BD-997E-4B13-934B-E2BA3F1C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3" name="row-title-1">
            <a:extLst xmlns:a="http://schemas.openxmlformats.org/drawingml/2006/main">
              <a:ext uri="{FF2B5EF4-FFF2-40B4-BE49-F238E27FC236}">
                <a16:creationId xmlns:a16="http://schemas.microsoft.com/office/drawing/2014/main" id="{421C0B74-A921-424B-8D97-C93EF233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AI PRODUCT IDEA</a:t>
            </a:r>
          </a:p>
        </p:txBody>
      </p:sp>
      <p:sp>
        <p:nvSpPr>
          <p:cNvPr id="14" name="row-copy-1">
            <a:extLst xmlns:a="http://schemas.openxmlformats.org/drawingml/2006/main">
              <a:ext uri="{FF2B5EF4-FFF2-40B4-BE49-F238E27FC236}">
                <a16:creationId xmlns:a16="http://schemas.microsoft.com/office/drawing/2014/main" id="{4A1981F8-3D84-4D2C-B345-934643E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65C6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65C61"/>
                </a:solidFill>
                <a:latin typeface="Segoe UI"/>
                <a:ea typeface="Segoe UI"/>
                <a:cs typeface="Segoe UI"/>
              </a:rPr>
              <a:t>A promising demo needs policy, tools, failure paths, and a credible route to production.</a:t>
            </a:r>
          </a:p>
        </p:txBody>
      </p:sp>
      <p:sp>
        <p:nvSpPr>
          <p:cNvPr id="15" name="row-rule-2">
            <a:extLst xmlns:a="http://schemas.openxmlformats.org/drawingml/2006/main">
              <a:ext uri="{FF2B5EF4-FFF2-40B4-BE49-F238E27FC236}">
                <a16:creationId xmlns:a16="http://schemas.microsoft.com/office/drawing/2014/main" id="{F32B7DBD-A422-4AF2-8516-301B067A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6" name="row-index-2">
            <a:extLst xmlns:a="http://schemas.openxmlformats.org/drawingml/2006/main">
              <a:ext uri="{FF2B5EF4-FFF2-40B4-BE49-F238E27FC236}">
                <a16:creationId xmlns:a16="http://schemas.microsoft.com/office/drawing/2014/main" id="{DFE2375F-F132-4807-AB0F-38A699EB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7" name="row-title-2">
            <a:extLst xmlns:a="http://schemas.openxmlformats.org/drawingml/2006/main">
              <a:ext uri="{FF2B5EF4-FFF2-40B4-BE49-F238E27FC236}">
                <a16:creationId xmlns:a16="http://schemas.microsoft.com/office/drawing/2014/main" id="{C4736195-CE71-412A-BBDF-62F7326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PARTNER DELIVERY</a:t>
            </a:r>
          </a:p>
        </p:txBody>
      </p:sp>
      <p:sp>
        <p:nvSpPr>
          <p:cNvPr id="18" name="row-copy-2">
            <a:extLst xmlns:a="http://schemas.openxmlformats.org/drawingml/2006/main">
              <a:ext uri="{FF2B5EF4-FFF2-40B4-BE49-F238E27FC236}">
                <a16:creationId xmlns:a16="http://schemas.microsoft.com/office/drawing/2014/main" id="{E09BA417-8AAD-4A06-AA1A-0AD3AD49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578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65C61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65C61"/>
                </a:solidFill>
                <a:latin typeface="Segoe UI"/>
                <a:ea typeface="Segoe UI"/>
                <a:cs typeface="Segoe UI"/>
              </a:rPr>
              <a:t>Your client needs specialist execution behind your relationship, with clean handoff and discretion.</a:t>
            </a:r>
          </a:p>
        </p:txBody>
      </p:sp>
      <p:sp>
        <p:nvSpPr>
          <p:cNvPr id="19" name="start-filter">
            <a:extLst xmlns:a="http://schemas.openxmlformats.org/drawingml/2006/main">
              <a:ext uri="{FF2B5EF4-FFF2-40B4-BE49-F238E27FC236}">
                <a16:creationId xmlns:a16="http://schemas.microsoft.com/office/drawing/2014/main" id="{9AE653BD-0077-435B-BEB3-2A08BD15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246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If simpler software already solves it, we will say so.</a:t>
            </a:r>
          </a:p>
        </p:txBody>
      </p:sp>
    </p:spTree>
    <p:extLst>
      <p:ext uri="{BB962C8B-B14F-4D97-AF65-F5344CB8AC3E}">
        <p14:creationId xmlns:p14="http://schemas.microsoft.com/office/powerpoint/2010/main" val="1768159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3">
            <a:extLst xmlns:a="http://schemas.openxmlformats.org/drawingml/2006/main">
              <a:ext uri="{FF2B5EF4-FFF2-40B4-BE49-F238E27FC236}">
                <a16:creationId xmlns:a16="http://schemas.microsoft.com/office/drawing/2014/main" id="{C31E4F88-388A-4104-A13A-4F045B0B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rPr>
              <a:t>PRIMEARCTECH  /  APPLIED AI SYSTEMS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73AA75C2-36B5-4B04-86D5-EA41AED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rPr>
              <a:t>CAPABILITIES  /  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b9fcf148e4c16"/>
          <a:srcRect xmlns:a="http://schemas.openxmlformats.org/drawingml/2006/main" l="522" t="0" r="5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method-orange">
            <a:extLst xmlns:a="http://schemas.openxmlformats.org/drawingml/2006/main">
              <a:ext uri="{FF2B5EF4-FFF2-40B4-BE49-F238E27FC236}">
                <a16:creationId xmlns:a16="http://schemas.microsoft.com/office/drawing/2014/main" id="{B940DFA8-7635-4DE2-9D43-15E1F547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3E"/>
          </a:solidFill>
          <a:ln xmlns:a="http://schemas.openxmlformats.org/drawingml/2006/main" w="0">
            <a:solidFill>
              <a:srgbClr val="D8643E"/>
            </a:solidFill>
            <a:prstDash val="solid"/>
          </a:ln>
        </p:spPr>
      </p:sp>
      <p:sp>
        <p:nvSpPr>
          <p:cNvPr id="5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B1EFD5B2-50E4-4B34-8753-6A494529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We ship the operating layer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around the model.</a:t>
            </a:r>
          </a:p>
        </p:txBody>
      </p:sp>
      <p:sp>
        <p:nvSpPr>
          <p:cNvPr id="6" name="method-copy">
            <a:extLst xmlns:a="http://schemas.openxmlformats.org/drawingml/2006/main">
              <a:ext uri="{FF2B5EF4-FFF2-40B4-BE49-F238E27FC236}">
                <a16:creationId xmlns:a16="http://schemas.microsoft.com/office/drawing/2014/main" id="{A89BB2BE-5C36-451E-8A4D-1D2ADD3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Context, tools, permissions, human exceptions, tests, and evidence of what happened.</a:t>
            </a:r>
          </a:p>
        </p:txBody>
      </p:sp>
      <p:sp>
        <p:nvSpPr>
          <p:cNvPr id="7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42B3EC49-CD8E-41E7-AAEB-B508FFCB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045"/>
          </a:solidFill>
          <a:ln xmlns:a="http://schemas.openxmlformats.org/drawingml/2006/main" w="0">
            <a:solidFill>
              <a:srgbClr val="3B4045"/>
            </a:solidFill>
            <a:prstDash val="solid"/>
          </a:ln>
        </p:spPr>
      </p:sp>
      <p:sp>
        <p:nvSpPr>
          <p:cNvPr id="8" name="stage-node-0">
            <a:extLst xmlns:a="http://schemas.openxmlformats.org/drawingml/2006/main">
              <a:ext uri="{FF2B5EF4-FFF2-40B4-BE49-F238E27FC236}">
                <a16:creationId xmlns:a16="http://schemas.microsoft.com/office/drawing/2014/main" id="{7048DFE3-C336-4739-99ED-BC8D5A1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  <a:ln xmlns:a="http://schemas.openxmlformats.org/drawingml/2006/main" w="0">
            <a:solidFill>
              <a:srgbClr val="F1EFE9"/>
            </a:solidFill>
            <a:prstDash val="solid"/>
          </a:ln>
        </p:spPr>
      </p:sp>
      <p:sp>
        <p:nvSpPr>
          <p:cNvPr id="9" name="stage-name-0">
            <a:extLst xmlns:a="http://schemas.openxmlformats.org/drawingml/2006/main">
              <a:ext uri="{FF2B5EF4-FFF2-40B4-BE49-F238E27FC236}">
                <a16:creationId xmlns:a16="http://schemas.microsoft.com/office/drawing/2014/main" id="{B6F4F1CD-9CA2-46DA-AFF7-C8641513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FRAME</a:t>
            </a:r>
          </a:p>
        </p:txBody>
      </p:sp>
      <p:sp>
        <p:nvSpPr>
          <p:cNvPr id="10" name="stage-copy-0">
            <a:extLst xmlns:a="http://schemas.openxmlformats.org/drawingml/2006/main">
              <a:ext uri="{FF2B5EF4-FFF2-40B4-BE49-F238E27FC236}">
                <a16:creationId xmlns:a16="http://schemas.microsoft.com/office/drawing/2014/main" id="{B043CA82-915E-409A-A2F2-000BAC8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Workflow map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Success condition</a:t>
            </a:r>
          </a:p>
        </p:txBody>
      </p:sp>
      <p:sp>
        <p:nvSpPr>
          <p:cNvPr id="11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2BBBB8D7-6898-43E6-A423-9090915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0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  <a:ln xmlns:a="http://schemas.openxmlformats.org/drawingml/2006/main" w="0">
            <a:solidFill>
              <a:srgbClr val="F1EFE9"/>
            </a:solidFill>
            <a:prstDash val="solid"/>
          </a:ln>
        </p:spPr>
      </p:sp>
      <p:sp>
        <p:nvSpPr>
          <p:cNvPr id="12" name="stage-name-1">
            <a:extLst xmlns:a="http://schemas.openxmlformats.org/drawingml/2006/main">
              <a:ext uri="{FF2B5EF4-FFF2-40B4-BE49-F238E27FC236}">
                <a16:creationId xmlns:a16="http://schemas.microsoft.com/office/drawing/2014/main" id="{F8B97565-DEF3-4F81-B105-6B1537CE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PROTOTYPE</a:t>
            </a:r>
          </a:p>
        </p:txBody>
      </p:sp>
      <p:sp>
        <p:nvSpPr>
          <p:cNvPr id="13" name="stage-copy-1">
            <a:extLst xmlns:a="http://schemas.openxmlformats.org/drawingml/2006/main">
              <a:ext uri="{FF2B5EF4-FFF2-40B4-BE49-F238E27FC236}">
                <a16:creationId xmlns:a16="http://schemas.microsoft.com/office/drawing/2014/main" id="{7A744207-15B0-41BA-A6C1-1EECD4D7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Smallest useful loop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Working behavior</a:t>
            </a:r>
          </a:p>
        </p:txBody>
      </p:sp>
      <p:sp>
        <p:nvSpPr>
          <p:cNvPr id="14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49F9FCB8-AAF3-4101-AC39-3DA4A4F2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0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  <a:ln xmlns:a="http://schemas.openxmlformats.org/drawingml/2006/main" w="0">
            <a:solidFill>
              <a:srgbClr val="F1EFE9"/>
            </a:solidFill>
            <a:prstDash val="solid"/>
          </a:ln>
        </p:spPr>
      </p:sp>
      <p:sp>
        <p:nvSpPr>
          <p:cNvPr id="15" name="stage-name-2">
            <a:extLst xmlns:a="http://schemas.openxmlformats.org/drawingml/2006/main">
              <a:ext uri="{FF2B5EF4-FFF2-40B4-BE49-F238E27FC236}">
                <a16:creationId xmlns:a16="http://schemas.microsoft.com/office/drawing/2014/main" id="{DFF645AF-9DB2-4461-A802-B42D6575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ATTACK</a:t>
            </a:r>
          </a:p>
        </p:txBody>
      </p:sp>
      <p:sp>
        <p:nvSpPr>
          <p:cNvPr id="16" name="stage-copy-2">
            <a:extLst xmlns:a="http://schemas.openxmlformats.org/drawingml/2006/main">
              <a:ext uri="{FF2B5EF4-FFF2-40B4-BE49-F238E27FC236}">
                <a16:creationId xmlns:a16="http://schemas.microsoft.com/office/drawing/2014/main" id="{1A76B119-34ED-44B8-8FCF-0A0636BA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67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Edge cases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Failure injection</a:t>
            </a:r>
          </a:p>
        </p:txBody>
      </p:sp>
      <p:sp>
        <p:nvSpPr>
          <p:cNvPr id="17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96593616-FDA9-4CC6-9AEE-DC7A8D2C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  <a:ln xmlns:a="http://schemas.openxmlformats.org/drawingml/2006/main" w="0">
            <a:solidFill>
              <a:srgbClr val="F1EFE9"/>
            </a:solidFill>
            <a:prstDash val="solid"/>
          </a:ln>
        </p:spPr>
      </p:sp>
      <p:sp>
        <p:nvSpPr>
          <p:cNvPr id="18" name="stage-name-3">
            <a:extLst xmlns:a="http://schemas.openxmlformats.org/drawingml/2006/main">
              <a:ext uri="{FF2B5EF4-FFF2-40B4-BE49-F238E27FC236}">
                <a16:creationId xmlns:a16="http://schemas.microsoft.com/office/drawing/2014/main" id="{A86EC636-291F-4806-9257-870035B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SHIP</a:t>
            </a:r>
          </a:p>
        </p:txBody>
      </p:sp>
      <p:sp>
        <p:nvSpPr>
          <p:cNvPr id="19" name="stage-copy-3">
            <a:extLst xmlns:a="http://schemas.openxmlformats.org/drawingml/2006/main">
              <a:ext uri="{FF2B5EF4-FFF2-40B4-BE49-F238E27FC236}">
                <a16:creationId xmlns:a16="http://schemas.microsoft.com/office/drawing/2014/main" id="{0FABFCFC-3E4F-4486-AC64-02CCCDD7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Deployment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Ownership + runbook</a:t>
            </a:r>
          </a:p>
        </p:txBody>
      </p:sp>
      <p:sp>
        <p:nvSpPr>
          <p:cNvPr id="20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BAD73856-82A4-4C72-9699-BFD62F15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0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3E"/>
          </a:solidFill>
          <a:ln xmlns:a="http://schemas.openxmlformats.org/drawingml/2006/main" w="0">
            <a:solidFill>
              <a:srgbClr val="D8643E"/>
            </a:solidFill>
            <a:prstDash val="solid"/>
          </a:ln>
        </p:spPr>
      </p:sp>
      <p:sp>
        <p:nvSpPr>
          <p:cNvPr id="21" name="stage-name-4">
            <a:extLst xmlns:a="http://schemas.openxmlformats.org/drawingml/2006/main">
              <a:ext uri="{FF2B5EF4-FFF2-40B4-BE49-F238E27FC236}">
                <a16:creationId xmlns:a16="http://schemas.microsoft.com/office/drawing/2014/main" id="{B35D24B4-C2D2-4FAA-95CE-3C2C8722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MONITOR</a:t>
            </a:r>
          </a:p>
        </p:txBody>
      </p:sp>
      <p:sp>
        <p:nvSpPr>
          <p:cNvPr id="22" name="stage-copy-4">
            <a:extLst xmlns:a="http://schemas.openxmlformats.org/drawingml/2006/main">
              <a:ext uri="{FF2B5EF4-FFF2-40B4-BE49-F238E27FC236}">
                <a16:creationId xmlns:a16="http://schemas.microsoft.com/office/drawing/2014/main" id="{E05050C5-DEC6-4126-B781-2950CED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67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Receipts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Review + change log</a:t>
            </a:r>
          </a:p>
        </p:txBody>
      </p:sp>
      <p:sp>
        <p:nvSpPr>
          <p:cNvPr id="23" name="artifact-band">
            <a:extLst xmlns:a="http://schemas.openxmlformats.org/drawingml/2006/main">
              <a:ext uri="{FF2B5EF4-FFF2-40B4-BE49-F238E27FC236}">
                <a16:creationId xmlns:a16="http://schemas.microsoft.com/office/drawing/2014/main" id="{A5C7F31E-4418-41ED-9CAA-5D5805D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B"/>
          </a:solidFill>
          <a:ln xmlns:a="http://schemas.openxmlformats.org/drawingml/2006/main" w="0">
            <a:solidFill>
              <a:srgbClr val="23272B"/>
            </a:solidFill>
            <a:prstDash val="solid"/>
          </a:ln>
        </p:spPr>
      </p:sp>
      <p:sp>
        <p:nvSpPr>
          <p:cNvPr id="24" name="artifact-label">
            <a:extLst xmlns:a="http://schemas.openxmlformats.org/drawingml/2006/main">
              <a:ext uri="{FF2B5EF4-FFF2-40B4-BE49-F238E27FC236}">
                <a16:creationId xmlns:a16="http://schemas.microsoft.com/office/drawing/2014/main" id="{2D3E8D3B-2F3D-49A3-A7DB-5EF47997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WHAT LEAVES THE STUDIO</a:t>
            </a:r>
          </a:p>
        </p:txBody>
      </p:sp>
      <p:sp>
        <p:nvSpPr>
          <p:cNvPr id="25" name="artifact-list">
            <a:extLst xmlns:a="http://schemas.openxmlformats.org/drawingml/2006/main">
              <a:ext uri="{FF2B5EF4-FFF2-40B4-BE49-F238E27FC236}">
                <a16:creationId xmlns:a16="http://schemas.microsoft.com/office/drawing/2014/main" id="{D2F1B483-66EA-4829-A4BD-2D2C700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48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1EFE9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1EFE9"/>
                </a:solidFill>
                <a:latin typeface="Segoe UI"/>
                <a:ea typeface="Segoe UI"/>
                <a:cs typeface="Segoe UI"/>
              </a:rPr>
              <a:t>Working software   /   Boundary policy   /   Adversarial test record   /   Failure paths   /   Operator receipt   /   Launch runbook</a:t>
            </a:r>
          </a:p>
        </p:txBody>
      </p:sp>
      <p:sp>
        <p:nvSpPr>
          <p:cNvPr id="26" name="artifact-note">
            <a:extLst xmlns:a="http://schemas.openxmlformats.org/drawingml/2006/main">
              <a:ext uri="{FF2B5EF4-FFF2-40B4-BE49-F238E27FC236}">
                <a16:creationId xmlns:a16="http://schemas.microsoft.com/office/drawing/2014/main" id="{5FF5958B-6413-415B-837D-5A7D8C05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419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7ADB2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A7ADB2"/>
                </a:solidFill>
                <a:latin typeface="Segoe UI"/>
                <a:ea typeface="Segoe UI"/>
                <a:cs typeface="Segoe UI"/>
              </a:rPr>
              <a:t>Direct ownership from framing through deployment. No mystery delivery layer.</a:t>
            </a:r>
          </a:p>
        </p:txBody>
      </p:sp>
    </p:spTree>
    <p:extLst>
      <p:ext uri="{BB962C8B-B14F-4D97-AF65-F5344CB8AC3E}">
        <p14:creationId xmlns:p14="http://schemas.microsoft.com/office/powerpoint/2010/main" val="1429017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4">
            <a:extLst xmlns:a="http://schemas.openxmlformats.org/drawingml/2006/main">
              <a:ext uri="{FF2B5EF4-FFF2-40B4-BE49-F238E27FC236}">
                <a16:creationId xmlns:a16="http://schemas.microsoft.com/office/drawing/2014/main" id="{4B95745A-6B16-4D20-9674-D106CEB8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rPr>
              <a:t>PRIMEARCTECH  /  APPLIED AI SYSTEMS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F10843DD-7A81-4AF9-9A41-7E409B67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596068"/>
                </a:solidFill>
                <a:latin typeface="Bahnschrift"/>
                <a:ea typeface="Bahnschrift"/>
                <a:cs typeface="Bahnschrift"/>
              </a:rPr>
              <a:t>CAPABILITIES  /  04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17cd03f9c4e1b"/>
          <a:srcRect xmlns:a="http://schemas.openxmlformats.org/drawingml/2006/main" l="26563" t="0" r="26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proof-accent">
            <a:extLst xmlns:a="http://schemas.openxmlformats.org/drawingml/2006/main">
              <a:ext uri="{FF2B5EF4-FFF2-40B4-BE49-F238E27FC236}">
                <a16:creationId xmlns:a16="http://schemas.microsoft.com/office/drawing/2014/main" id="{05C09285-95A1-4B87-AD20-FC28DF4E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3E"/>
          </a:solidFill>
          <a:ln xmlns:a="http://schemas.openxmlformats.org/drawingml/2006/main" w="0">
            <a:solidFill>
              <a:srgbClr val="D8643E"/>
            </a:solidFill>
            <a:prstDash val="solid"/>
          </a:ln>
        </p:spPr>
      </p:sp>
      <p:sp>
        <p:nvSpPr>
          <p:cNvPr id="5" name="proof-kicker">
            <a:extLst xmlns:a="http://schemas.openxmlformats.org/drawingml/2006/main">
              <a:ext uri="{FF2B5EF4-FFF2-40B4-BE49-F238E27FC236}">
                <a16:creationId xmlns:a16="http://schemas.microsoft.com/office/drawing/2014/main" id="{014F5F33-E236-41C0-ABCF-6CA8045D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OWNED PRODUCT  /  INSPECTABLE PROOF</a:t>
            </a:r>
          </a:p>
        </p:txBody>
      </p:sp>
      <p:sp>
        <p:nvSpPr>
          <p:cNvPr id="6" name="proof-title">
            <a:extLst xmlns:a="http://schemas.openxmlformats.org/drawingml/2006/main">
              <a:ext uri="{FF2B5EF4-FFF2-40B4-BE49-F238E27FC236}">
                <a16:creationId xmlns:a16="http://schemas.microsoft.com/office/drawing/2014/main" id="{313B4C5A-C452-451C-B1F0-04F922F3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75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3675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FieldRelay makes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75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3675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the method visible.</a:t>
            </a:r>
          </a:p>
        </p:txBody>
      </p:sp>
      <p:sp>
        <p:nvSpPr>
          <p:cNvPr id="7" name="proof-intro">
            <a:extLst xmlns:a="http://schemas.openxmlformats.org/drawingml/2006/main">
              <a:ext uri="{FF2B5EF4-FFF2-40B4-BE49-F238E27FC236}">
                <a16:creationId xmlns:a16="http://schemas.microsoft.com/office/drawing/2014/main" id="{0C6D5981-FF35-472C-B8EC-CE3E8FE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029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565C61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65C61"/>
                </a:solidFill>
                <a:latin typeface="Segoe UI"/>
                <a:ea typeface="Segoe UI"/>
                <a:cs typeface="Segoe UI"/>
              </a:rPr>
              <a:t>A managed voice system for missed and after-hours home-service calls. One proving ground for our standard—not the limit of our studio.</a:t>
            </a:r>
          </a:p>
        </p:txBody>
      </p:sp>
      <p:sp>
        <p:nvSpPr>
          <p:cNvPr id="8" name="proof-rule-0">
            <a:extLst xmlns:a="http://schemas.openxmlformats.org/drawingml/2006/main">
              <a:ext uri="{FF2B5EF4-FFF2-40B4-BE49-F238E27FC236}">
                <a16:creationId xmlns:a16="http://schemas.microsoft.com/office/drawing/2014/main" id="{FBC2B759-D4A0-456E-AE4C-13FA70D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9" name="proof-label-0">
            <a:extLst xmlns:a="http://schemas.openxmlformats.org/drawingml/2006/main">
              <a:ext uri="{FF2B5EF4-FFF2-40B4-BE49-F238E27FC236}">
                <a16:creationId xmlns:a16="http://schemas.microsoft.com/office/drawing/2014/main" id="{B7121E6A-ACA8-4270-A4DB-4C95F0BC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DOES</a:t>
            </a:r>
          </a:p>
        </p:txBody>
      </p:sp>
      <p:sp>
        <p:nvSpPr>
          <p:cNvPr id="10" name="proof-row-0">
            <a:extLst xmlns:a="http://schemas.openxmlformats.org/drawingml/2006/main">
              <a:ext uri="{FF2B5EF4-FFF2-40B4-BE49-F238E27FC236}">
                <a16:creationId xmlns:a16="http://schemas.microsoft.com/office/drawing/2014/main" id="{13A99C0F-F7F0-4B63-810C-026E15A9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Answers, screens danger, qualifies, validates service area, and creates a provisional outcome.</a:t>
            </a:r>
          </a:p>
        </p:txBody>
      </p:sp>
      <p:sp>
        <p:nvSpPr>
          <p:cNvPr id="11" name="proof-rule-1">
            <a:extLst xmlns:a="http://schemas.openxmlformats.org/drawingml/2006/main">
              <a:ext uri="{FF2B5EF4-FFF2-40B4-BE49-F238E27FC236}">
                <a16:creationId xmlns:a16="http://schemas.microsoft.com/office/drawing/2014/main" id="{8762B2C7-B311-439D-BC32-90C886C3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2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A6BF13C8-EDD9-4A07-82B9-A40B5B92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REFUSES</a:t>
            </a:r>
          </a:p>
        </p:txBody>
      </p:sp>
      <p:sp>
        <p:nvSpPr>
          <p:cNvPr id="13" name="proof-row-1">
            <a:extLst xmlns:a="http://schemas.openxmlformats.org/drawingml/2006/main">
              <a:ext uri="{FF2B5EF4-FFF2-40B4-BE49-F238E27FC236}">
                <a16:creationId xmlns:a16="http://schemas.microsoft.com/office/drawing/2014/main" id="{63282C8F-303E-4DFA-B0B2-0862C371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4345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No diagnosis, repair instruction, firm estimate, invented booking, transfer, or provider success.</a:t>
            </a:r>
          </a:p>
        </p:txBody>
      </p:sp>
      <p:sp>
        <p:nvSpPr>
          <p:cNvPr id="14" name="proof-rule-2">
            <a:extLst xmlns:a="http://schemas.openxmlformats.org/drawingml/2006/main">
              <a:ext uri="{FF2B5EF4-FFF2-40B4-BE49-F238E27FC236}">
                <a16:creationId xmlns:a16="http://schemas.microsoft.com/office/drawing/2014/main" id="{1CC89D71-E98F-4072-B48C-4DB3C0C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5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4F6BDB4A-D4B4-442B-B761-9F5AD850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RETURNS</a:t>
            </a:r>
          </a:p>
        </p:txBody>
      </p:sp>
      <p:sp>
        <p:nvSpPr>
          <p:cNvPr id="16" name="proof-row-2">
            <a:extLst xmlns:a="http://schemas.openxmlformats.org/drawingml/2006/main">
              <a:ext uri="{FF2B5EF4-FFF2-40B4-BE49-F238E27FC236}">
                <a16:creationId xmlns:a16="http://schemas.microsoft.com/office/drawing/2014/main" id="{6EF34D62-A336-47E6-A216-4A1CE4AC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3848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Live transcript, policy events, provenance, failure state, and structured dispatcher receipt.</a:t>
            </a:r>
          </a:p>
        </p:txBody>
      </p:sp>
      <p:sp>
        <p:nvSpPr>
          <p:cNvPr id="17" name="proof-url">
            <a:extLst xmlns:a="http://schemas.openxmlformats.org/drawingml/2006/main">
              <a:ext uri="{FF2B5EF4-FFF2-40B4-BE49-F238E27FC236}">
                <a16:creationId xmlns:a16="http://schemas.microsoft.com/office/drawing/2014/main" id="{8D36FB73-F720-4524-A16F-F90E5A0E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LIVE SANDBOX  /  primearc.tech/fieldrelay/demo</a:t>
            </a:r>
          </a:p>
        </p:txBody>
      </p:sp>
    </p:spTree>
    <p:extLst>
      <p:ext uri="{BB962C8B-B14F-4D97-AF65-F5344CB8AC3E}">
        <p14:creationId xmlns:p14="http://schemas.microsoft.com/office/powerpoint/2010/main" val="1768860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dark">
            <a:extLst xmlns:a="http://schemas.openxmlformats.org/drawingml/2006/main">
              <a:ext uri="{FF2B5EF4-FFF2-40B4-BE49-F238E27FC236}">
                <a16:creationId xmlns:a16="http://schemas.microsoft.com/office/drawing/2014/main" id="{5FAE4096-4C8D-40A1-9859-EC29684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solidFill>
              <a:srgbClr val="111315"/>
            </a:solidFill>
            <a:prstDash val="solid"/>
          </a:ln>
        </p:spPr>
      </p:sp>
      <p:sp>
        <p:nvSpPr>
          <p:cNvPr id="2" name="brand-5">
            <a:extLst xmlns:a="http://schemas.openxmlformats.org/drawingml/2006/main">
              <a:ext uri="{FF2B5EF4-FFF2-40B4-BE49-F238E27FC236}">
                <a16:creationId xmlns:a16="http://schemas.microsoft.com/office/drawing/2014/main" id="{0D5CB964-CA3F-4800-9B18-76DAB4F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rPr>
              <a:t>PRIMEARCTECH  /  APPLIED AI SYSTEMS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CF31BF8A-FD2C-4E87-8A5F-9021EB90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7ADB2"/>
                </a:solidFill>
                <a:latin typeface="Bahnschrift"/>
                <a:ea typeface="Bahnschrift"/>
                <a:cs typeface="Bahnschrift"/>
              </a:rPr>
              <a:t>CAPABILITIES  /  05</a:t>
            </a:r>
          </a:p>
        </p:txBody>
      </p:sp>
      <p:sp>
        <p:nvSpPr>
          <p:cNvPr id="4" name="closing-orange">
            <a:extLst xmlns:a="http://schemas.openxmlformats.org/drawingml/2006/main">
              <a:ext uri="{FF2B5EF4-FFF2-40B4-BE49-F238E27FC236}">
                <a16:creationId xmlns:a16="http://schemas.microsoft.com/office/drawing/2014/main" id="{D4CB53AA-C04A-49C3-BDBD-F695BFF8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3E"/>
          </a:solidFill>
          <a:ln xmlns:a="http://schemas.openxmlformats.org/drawingml/2006/main" w="0">
            <a:solidFill>
              <a:srgbClr val="D8643E"/>
            </a:solidFill>
            <a:prstDash val="solid"/>
          </a:ln>
        </p:spPr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C3CC920-6E68-4E72-9104-AF82B2B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Start with one workflow.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1EFE9"/>
                </a:solidFill>
                <a:latin typeface="Bahnschrift"/>
                <a:ea typeface="Bahnschrift"/>
                <a:cs typeface="Bahnschrift"/>
              </a:defRPr>
            </a:pPr>
            <a:r>
              <a:rPr sz="4350" b="1">
                <a:solidFill>
                  <a:srgbClr val="F1EFE9"/>
                </a:solidFill>
                <a:latin typeface="Bahnschrift"/>
                <a:ea typeface="Bahnschrift"/>
                <a:cs typeface="Bahnschrift"/>
              </a:rPr>
              <a:t>Leave with a decision.</a:t>
            </a:r>
          </a:p>
        </p:txBody>
      </p:sp>
      <p:sp>
        <p:nvSpPr>
          <p:cNvPr id="6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B3B63533-7078-458E-9CA5-8BA3E041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7D3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7D3CA"/>
                </a:solidFill>
                <a:latin typeface="Segoe UI"/>
                <a:ea typeface="Segoe UI"/>
                <a:cs typeface="Segoe UI"/>
              </a:rPr>
              <a:t>Free AI Workflow Audit. Fit review, not disguised project.</a:t>
            </a:r>
          </a:p>
        </p:txBody>
      </p:sp>
      <p:sp>
        <p:nvSpPr>
          <p:cNvPr id="7" name="closing-paper">
            <a:extLst xmlns:a="http://schemas.openxmlformats.org/drawingml/2006/main">
              <a:ext uri="{FF2B5EF4-FFF2-40B4-BE49-F238E27FC236}">
                <a16:creationId xmlns:a16="http://schemas.microsoft.com/office/drawing/2014/main" id="{07C51D14-F9E6-4D15-A2DF-4BC399D3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  <a:ln xmlns:a="http://schemas.openxmlformats.org/drawingml/2006/main" w="0">
            <a:solidFill>
              <a:srgbClr val="F1EFE9"/>
            </a:solidFill>
            <a:prstDash val="solid"/>
          </a:ln>
        </p:spPr>
      </p:sp>
      <p:sp>
        <p:nvSpPr>
          <p:cNvPr id="8" name="bring-label">
            <a:extLst xmlns:a="http://schemas.openxmlformats.org/drawingml/2006/main">
              <a:ext uri="{FF2B5EF4-FFF2-40B4-BE49-F238E27FC236}">
                <a16:creationId xmlns:a16="http://schemas.microsoft.com/office/drawing/2014/main" id="{830B9845-1D19-425B-9F96-E495FBD8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YOU BRING</a:t>
            </a:r>
          </a:p>
        </p:txBody>
      </p:sp>
      <p:sp>
        <p:nvSpPr>
          <p:cNvPr id="9" name="bring-copy">
            <a:extLst xmlns:a="http://schemas.openxmlformats.org/drawingml/2006/main">
              <a:ext uri="{FF2B5EF4-FFF2-40B4-BE49-F238E27FC236}">
                <a16:creationId xmlns:a16="http://schemas.microsoft.com/office/drawing/2014/main" id="{865F6889-E534-406A-9481-DA3AA922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810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One repeated workflow or product brief.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What happens today.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What failure costs.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Who owns the outcome.</a:t>
            </a:r>
          </a:p>
        </p:txBody>
      </p:sp>
      <p:sp>
        <p:nvSpPr>
          <p:cNvPr id="10" name="closing-divider">
            <a:extLst xmlns:a="http://schemas.openxmlformats.org/drawingml/2006/main">
              <a:ext uri="{FF2B5EF4-FFF2-40B4-BE49-F238E27FC236}">
                <a16:creationId xmlns:a16="http://schemas.microsoft.com/office/drawing/2014/main" id="{8DC53EED-BA56-4201-8BD3-B6F96A3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148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1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A0305A22-C39D-4EFA-8FB2-873486B5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YOU LEAVE WITH</a:t>
            </a:r>
          </a:p>
        </p:txBody>
      </p:sp>
      <p:sp>
        <p:nvSpPr>
          <p:cNvPr id="12" name="return-copy">
            <a:extLst xmlns:a="http://schemas.openxmlformats.org/drawingml/2006/main">
              <a:ext uri="{FF2B5EF4-FFF2-40B4-BE49-F238E27FC236}">
                <a16:creationId xmlns:a16="http://schemas.microsoft.com/office/drawing/2014/main" id="{2E8185BE-BCDD-4DCE-B2B6-BD515FFE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0"/>
            <a:ext cx="5314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Best opportunity worth pursuing.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Smallest useful system scope.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Key risks and human controls.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1131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11315"/>
                </a:solidFill>
                <a:latin typeface="Segoe UI"/>
                <a:ea typeface="Segoe UI"/>
                <a:cs typeface="Segoe UI"/>
              </a:rPr>
              <a:t>Build, buy, narrow, or stop recommendation.</a:t>
            </a:r>
          </a:p>
        </p:txBody>
      </p:sp>
      <p:sp>
        <p:nvSpPr>
          <p:cNvPr id="13" name="cta-rule">
            <a:extLst xmlns:a="http://schemas.openxmlformats.org/drawingml/2006/main">
              <a:ext uri="{FF2B5EF4-FFF2-40B4-BE49-F238E27FC236}">
                <a16:creationId xmlns:a16="http://schemas.microsoft.com/office/drawing/2014/main" id="{6F0E9512-F7CF-4AC4-A47E-E43DE6C7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CA"/>
          </a:solidFill>
          <a:ln xmlns:a="http://schemas.openxmlformats.org/drawingml/2006/main" w="0">
            <a:solidFill>
              <a:srgbClr val="D7D3CA"/>
            </a:solidFill>
            <a:prstDash val="solid"/>
          </a:ln>
        </p:spPr>
      </p:sp>
      <p:sp>
        <p:nvSpPr>
          <p:cNvPr id="14" name="closing-cta">
            <a:extLst xmlns:a="http://schemas.openxmlformats.org/drawingml/2006/main">
              <a:ext uri="{FF2B5EF4-FFF2-40B4-BE49-F238E27FC236}">
                <a16:creationId xmlns:a16="http://schemas.microsoft.com/office/drawing/2014/main" id="{A048A433-B264-46AB-82A5-A35967C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31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11315"/>
                </a:solidFill>
                <a:latin typeface="Bahnschrift"/>
                <a:ea typeface="Bahnschrift"/>
                <a:cs typeface="Bahnschrift"/>
              </a:rPr>
              <a:t>GET FREE AI WORKFLOW AUDIT</a:t>
            </a:r>
          </a:p>
        </p:txBody>
      </p:sp>
      <p:sp>
        <p:nvSpPr>
          <p:cNvPr id="15" name="closing-url">
            <a:extLst xmlns:a="http://schemas.openxmlformats.org/drawingml/2006/main">
              <a:ext uri="{FF2B5EF4-FFF2-40B4-BE49-F238E27FC236}">
                <a16:creationId xmlns:a16="http://schemas.microsoft.com/office/drawing/2014/main" id="{A44D431E-2BA0-4426-8131-64478186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4365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D8643E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D8643E"/>
                </a:solidFill>
                <a:latin typeface="Bahnschrift"/>
                <a:ea typeface="Bahnschrift"/>
                <a:cs typeface="Bahnschrift"/>
              </a:rPr>
              <a:t>primearc.tech/build-brief</a:t>
            </a:r>
          </a:p>
        </p:txBody>
      </p:sp>
    </p:spTree>
    <p:extLst>
      <p:ext uri="{BB962C8B-B14F-4D97-AF65-F5344CB8AC3E}">
        <p14:creationId xmlns:p14="http://schemas.microsoft.com/office/powerpoint/2010/main" val="2034495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2026-08-11T10:09:49.3710000Z</dcterms:created>
  <dcterms:modified xsi:type="dcterms:W3CDTF">2026-08-11T10:09:49.3710000Z</dcterms:modified>
</coreProperties>
</file>